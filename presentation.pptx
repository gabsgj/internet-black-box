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657600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49640" y="0"/>
            <a:ext cx="36576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HACKHAZARDS '26  ·  TEAM ARETE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0000"/>
              </a:lnSpc>
              <a:defRPr sz="7200" b="1">
                <a:solidFill>
                  <a:srgbClr val="0F172A"/>
                </a:solidFill>
                <a:latin typeface="Calibri"/>
              </a:defRPr>
            </a:pPr>
            <a:r>
              <a:t>Internet</a:t>
            </a:r>
          </a:p>
          <a:p>
            <a:pPr>
              <a:lnSpc>
                <a:spcPct val="90000"/>
              </a:lnSpc>
              <a:defRPr sz="7200" b="1">
                <a:solidFill>
                  <a:srgbClr val="059669"/>
                </a:solidFill>
                <a:latin typeface="Calibri"/>
              </a:defRPr>
            </a:pPr>
            <a:r>
              <a:t>Black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Calibri"/>
              </a:defRPr>
            </a:pPr>
            <a:r>
              <a:t>Causal incident reconstruction — instant, hands-free, autonomous.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00600"/>
            <a:ext cx="6400800" cy="15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Passively ingesting Git merges, Slack triage threads, and production alerts into an always-on Neo4j causal event graph — tracing outages to their root origin in seconds, not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828800"/>
            <a:ext cx="3017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400"/>
              </a:spcBef>
            </a:pPr>
            <a:r>
              <a:rPr sz="1000">
                <a:solidFill>
                  <a:srgbClr val="059669"/>
                </a:solidFill>
                <a:latin typeface="Calibri"/>
              </a:rPr>
              <a:t>◆  </a:t>
            </a:r>
            <a:r>
              <a:rPr sz="1400" b="1">
                <a:solidFill>
                  <a:srgbClr val="0F172A"/>
                </a:solidFill>
                <a:latin typeface="Calibri"/>
              </a:rPr>
              <a:t>Neo4j AuraDB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059669"/>
                </a:solidFill>
                <a:latin typeface="Calibri"/>
              </a:rPr>
              <a:t>◆  </a:t>
            </a:r>
            <a:r>
              <a:rPr sz="1400" b="1">
                <a:solidFill>
                  <a:srgbClr val="0F172A"/>
                </a:solidFill>
                <a:latin typeface="Calibri"/>
              </a:rPr>
              <a:t>Render Workflows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059669"/>
                </a:solidFill>
                <a:latin typeface="Calibri"/>
              </a:rPr>
              <a:t>◆  </a:t>
            </a:r>
            <a:r>
              <a:rPr sz="1400" b="1">
                <a:solidFill>
                  <a:srgbClr val="0F172A"/>
                </a:solidFill>
                <a:latin typeface="Calibri"/>
              </a:rPr>
              <a:t>Expo Mobile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059669"/>
                </a:solidFill>
                <a:latin typeface="Calibri"/>
              </a:rPr>
              <a:t>◆  </a:t>
            </a:r>
            <a:r>
              <a:rPr sz="1400" b="1">
                <a:solidFill>
                  <a:srgbClr val="0F172A"/>
                </a:solidFill>
                <a:latin typeface="Calibri"/>
              </a:rPr>
              <a:t>Sarvam AI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059669"/>
                </a:solidFill>
                <a:latin typeface="Calibri"/>
              </a:rPr>
              <a:t>◆  </a:t>
            </a:r>
            <a:r>
              <a:rPr sz="1400" b="1">
                <a:solidFill>
                  <a:srgbClr val="0F172A"/>
                </a:solidFill>
                <a:latin typeface="Calibri"/>
              </a:rPr>
              <a:t>NVIDIA NIM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50876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TRACK SPONSORS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01  ·  PROBLEM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Outages strike at 3 AM.</a:t>
            </a:r>
            <a:br/>
            <a:r>
              <a:t>Forensics take 3 days.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2895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defRPr sz="1350">
                <a:solidFill>
                  <a:srgbClr val="64748B"/>
                </a:solidFill>
                <a:latin typeface="Calibri"/>
              </a:defRPr>
            </a:pPr>
            <a:r>
              <a:t>When systems break, on-call engineers face an archaeology problem — evidence scattered across isolated, context-free silos.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6309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59669"/>
                </a:solidFill>
                <a:latin typeface="Calibri"/>
              </a:rPr>
              <a:t>▶  </a:t>
            </a:r>
            <a:r>
              <a:rPr sz="1300">
                <a:solidFill>
                  <a:srgbClr val="334155"/>
                </a:solidFill>
                <a:latin typeface="Calibri"/>
              </a:rPr>
              <a:t>Git history records raw commits but strips away human decisions, Slack discussions, and deployment context.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59669"/>
                </a:solidFill>
                <a:latin typeface="Calibri"/>
              </a:rPr>
              <a:t>▶  </a:t>
            </a:r>
            <a:r>
              <a:rPr sz="1300">
                <a:solidFill>
                  <a:srgbClr val="334155"/>
                </a:solidFill>
                <a:latin typeface="Calibri"/>
              </a:rPr>
              <a:t>Slack war-room threads hold the 'why' but are disconnected from code changes or alert timelines.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59669"/>
                </a:solidFill>
                <a:latin typeface="Calibri"/>
              </a:rPr>
              <a:t>▶  </a:t>
            </a:r>
            <a:r>
              <a:rPr sz="1300">
                <a:solidFill>
                  <a:srgbClr val="334155"/>
                </a:solidFill>
                <a:latin typeface="Calibri"/>
              </a:rPr>
              <a:t>Sentry / PagerDuty capture the crash — but can't link back to the breaking pull request or its author.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828800"/>
            <a:ext cx="36576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828800"/>
            <a:ext cx="365760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3000" b="1">
                <a:solidFill>
                  <a:srgbClr val="0F172A"/>
                </a:solidFill>
                <a:latin typeface="Calibri"/>
              </a:defRPr>
            </a:pPr>
            <a:r>
              <a:t>4.2 hrs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Industry average MTTR (Mean Time to Resolve)</a:t>
            </a:r>
          </a:p>
          <a:p>
            <a:pPr>
              <a:spcBef>
                <a:spcPts val="1600"/>
              </a:spcBef>
              <a:defRPr sz="3000" b="1">
                <a:solidFill>
                  <a:srgbClr val="0F172A"/>
                </a:solidFill>
                <a:latin typeface="Calibri"/>
              </a:defRPr>
            </a:pPr>
            <a:r>
              <a:t>$300K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Cost per hour of cloud production downtime</a:t>
            </a:r>
          </a:p>
          <a:p>
            <a:pPr>
              <a:spcBef>
                <a:spcPts val="1600"/>
              </a:spcBef>
              <a:defRPr sz="3000" b="1">
                <a:solidFill>
                  <a:srgbClr val="0F172A"/>
                </a:solidFill>
                <a:latin typeface="Calibri"/>
              </a:defRPr>
            </a:pPr>
            <a:r>
              <a:t>2–5 days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Typical post-mortem completion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02  ·  THE GRAPH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Neo4j AuraDB — Causality over columns.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2895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defRPr sz="1350">
                <a:solidFill>
                  <a:srgbClr val="64748B"/>
                </a:solidFill>
                <a:latin typeface="Calibri"/>
              </a:defRPr>
            </a:pPr>
            <a:r>
              <a:t>Native graph gives us index-free adjacency: constant-time causal traversal — no joins, no scans.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◉  </a:t>
            </a:r>
            <a:r>
              <a:rPr sz="1300">
                <a:solidFill>
                  <a:srgbClr val="334155"/>
                </a:solidFill>
                <a:latin typeface="Calibri"/>
              </a:rPr>
              <a:t>Node types: Person · Commit · PullRequest · Deployment · Alert · Incident · System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◉  </a:t>
            </a:r>
            <a:r>
              <a:rPr sz="1300">
                <a:solidFill>
                  <a:srgbClr val="334155"/>
                </a:solidFill>
                <a:latin typeface="Calibri"/>
              </a:rPr>
              <a:t>Edge semantics: :AUTHORED  :TRIGGERED  :DEPLOYED_TO  :AFFECTED  :CAUSED_BY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◉  </a:t>
            </a:r>
            <a:r>
              <a:rPr sz="1300">
                <a:solidFill>
                  <a:srgbClr val="334155"/>
                </a:solidFill>
                <a:latin typeface="Calibri"/>
              </a:rPr>
              <a:t>Shortest-path Cypher traces from production alert → breaking commit → author in &lt;50 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828800"/>
            <a:ext cx="36576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828800"/>
            <a:ext cx="36576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892807"/>
            <a:ext cx="3657600" cy="405079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05740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Lucida Console"/>
              </a:defRPr>
            </a:pPr>
            <a:r>
              <a:t>// Root-cause Cypher query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MATCH</a:t>
            </a:r>
            <a:r>
              <a:rPr sz="1100">
                <a:solidFill>
                  <a:srgbClr val="0F172A"/>
                </a:solidFill>
                <a:latin typeface="Lucida Console"/>
              </a:rPr>
              <a:t> (i:Incident {id: $incidentId})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MATCH</a:t>
            </a:r>
            <a:r>
              <a:rPr sz="1100">
                <a:solidFill>
                  <a:srgbClr val="0F172A"/>
                </a:solidFill>
                <a:latin typeface="Lucida Console"/>
              </a:rPr>
              <a:t> path = shortestPath(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  </a:t>
            </a:r>
            <a:r>
              <a:rPr sz="1100">
                <a:solidFill>
                  <a:srgbClr val="0F172A"/>
                </a:solidFill>
                <a:latin typeface="Lucida Console"/>
              </a:rPr>
              <a:t>(c:Event {type: 'COMMIT'})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  </a:t>
            </a:r>
            <a:r>
              <a:rPr sz="1100">
                <a:solidFill>
                  <a:srgbClr val="0F172A"/>
                </a:solidFill>
                <a:latin typeface="Lucida Console"/>
              </a:rPr>
              <a:t>-[:TRIGGERED|PRECEDED*1..6]-&gt;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  </a:t>
            </a:r>
            <a:r>
              <a:rPr sz="1100">
                <a:solidFill>
                  <a:srgbClr val="0F172A"/>
                </a:solidFill>
                <a:latin typeface="Lucida Console"/>
              </a:rPr>
              <a:t>(i)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)</a:t>
            </a:r>
            <a:r>
              <a:rPr sz="1100">
                <a:solidFill>
                  <a:srgbClr val="0F172A"/>
                </a:solidFill>
                <a:latin typeface="Lucida Console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D9488"/>
                </a:solidFill>
                <a:latin typeface="Lucida Console"/>
              </a:rPr>
              <a:t>RETURN</a:t>
            </a:r>
            <a:r>
              <a:rPr sz="1100">
                <a:solidFill>
                  <a:srgbClr val="0F172A"/>
                </a:solidFill>
                <a:latin typeface="Lucida Console"/>
              </a:rPr>
              <a:t> nodes(path), relationships(path)</a:t>
            </a:r>
          </a:p>
          <a:p>
            <a:pPr>
              <a:spcBef>
                <a:spcPts val="1400"/>
              </a:spcBef>
              <a:defRPr sz="1000" b="1">
                <a:solidFill>
                  <a:srgbClr val="059669"/>
                </a:solidFill>
                <a:latin typeface="Calibri"/>
              </a:defRPr>
            </a:pPr>
            <a:r>
              <a:t>⚡ Returns full causal path in &lt;50 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03  ·  INGESTION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Render Workflows — multi-stage passive capture.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2895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2004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084832"/>
            <a:ext cx="268833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059669"/>
                </a:solidFill>
                <a:latin typeface="Calibri"/>
              </a:defRPr>
            </a:pPr>
            <a:r>
              <a:t>01  ·  INGEST-GITHUB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Cron Sync</a:t>
            </a:r>
            <a:br/>
            <a:r>
              <a:t>Job</a:t>
            </a:r>
          </a:p>
          <a:p>
            <a:pPr>
              <a:spcAft>
                <a:spcPts val="1000"/>
              </a:spcAft>
              <a:defRPr sz="700">
                <a:solidFill>
                  <a:srgbClr val="DCE3EB"/>
                </a:solidFill>
                <a:latin typeface="Calibri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lnSpc>
                <a:spcPct val="135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Runs every 5 minutes via Render cron. Queries GitHub for commits, PR lifecycle events, file diffs, and deployment states. Writes semantic node-edge pairs to Neo4j.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190" y="1828800"/>
            <a:ext cx="320040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5190" y="1828800"/>
            <a:ext cx="3200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1222" y="2084832"/>
            <a:ext cx="268833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0D9488"/>
                </a:solidFill>
                <a:latin typeface="Calibri"/>
              </a:defRPr>
            </a:pPr>
            <a:r>
              <a:t>02  ·  INGEST-SLACK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Realtime</a:t>
            </a:r>
            <a:br/>
            <a:r>
              <a:t>Webhook</a:t>
            </a:r>
          </a:p>
          <a:p>
            <a:pPr>
              <a:spcAft>
                <a:spcPts val="1000"/>
              </a:spcAft>
              <a:defRPr sz="700">
                <a:solidFill>
                  <a:srgbClr val="DCE3EB"/>
                </a:solidFill>
                <a:latin typeface="Calibri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lnSpc>
                <a:spcPct val="135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Receives Slack events in real-time. Runs PII scrubbing, sanitises telemetry values, extracts user-to-file entity mentions, and persists discussion nodes.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5980" y="1828800"/>
            <a:ext cx="320040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5980" y="1828800"/>
            <a:ext cx="32004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2012" y="2084832"/>
            <a:ext cx="268833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7C3AED"/>
                </a:solidFill>
                <a:latin typeface="Calibri"/>
              </a:defRPr>
            </a:pPr>
            <a:r>
              <a:t>03  ·  RECONSTRUCT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AI</a:t>
            </a:r>
            <a:br/>
            <a:r>
              <a:t>Reconstruction</a:t>
            </a:r>
          </a:p>
          <a:p>
            <a:pPr>
              <a:spcAft>
                <a:spcPts val="1000"/>
              </a:spcAft>
              <a:defRPr sz="700">
                <a:solidFill>
                  <a:srgbClr val="DCE3EB"/>
                </a:solidFill>
                <a:latin typeface="Calibri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lnSpc>
                <a:spcPct val="135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9-stage background worker. Pulls a 4-hour temporal subgraph, compiles diff summaries, and calls NVIDIA NIM (LLaMA 3.1 70B) to generate the causal incident timeline.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04  ·  MOBILE &amp; VOICE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Expo + Sarvam AI — Hands-free on-call triage.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2895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Incidents happen at 3 AM away from a laptop. Voice + mobile brings the Black Box to the engineer.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◎  </a:t>
            </a:r>
            <a:r>
              <a:rPr sz="1300">
                <a:solidFill>
                  <a:srgbClr val="334155"/>
                </a:solidFill>
                <a:latin typeface="Calibri"/>
              </a:rPr>
              <a:t>Expo Push Alerts — real-time push notifications to iOS/Android with a first-pass AI incident summary.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◎  </a:t>
            </a:r>
            <a:r>
              <a:rPr sz="1300">
                <a:solidFill>
                  <a:srgbClr val="334155"/>
                </a:solidFill>
                <a:latin typeface="Calibri"/>
              </a:rPr>
              <a:t>Sarvam STT — engineers speak a query ('What broke on payment service at 2 AM?'); speech converts to a structured Neo4j graph query.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◎  </a:t>
            </a:r>
            <a:r>
              <a:rPr sz="1300">
                <a:solidFill>
                  <a:srgbClr val="334155"/>
                </a:solidFill>
                <a:latin typeface="Calibri"/>
              </a:rPr>
              <a:t>Sarvam TTS — the AI-synthesized incident timeline is read back as multilingual audio (English + Hindi) — no screen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828800"/>
            <a:ext cx="36576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828800"/>
            <a:ext cx="36576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892807"/>
            <a:ext cx="3657600" cy="405079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05740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900" b="1">
                <a:solidFill>
                  <a:srgbClr val="0D9488"/>
                </a:solidFill>
                <a:latin typeface="Calibri"/>
              </a:defRPr>
            </a:pPr>
            <a:r>
              <a:t>VOICE CALL ROUTING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9488"/>
                </a:solidFill>
                <a:latin typeface="Calibri"/>
              </a:rPr>
              <a:t>1 ▸  </a:t>
            </a:r>
            <a:r>
              <a:rPr sz="1100">
                <a:solidFill>
                  <a:srgbClr val="0F172A"/>
                </a:solidFill>
                <a:latin typeface="Calibri"/>
              </a:rPr>
              <a:t>Expo captures voice audio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9488"/>
                </a:solidFill>
                <a:latin typeface="Calibri"/>
              </a:rPr>
              <a:t>2 ▸  </a:t>
            </a:r>
            <a:r>
              <a:rPr sz="1100">
                <a:solidFill>
                  <a:srgbClr val="0F172A"/>
                </a:solidFill>
                <a:latin typeface="Calibri"/>
              </a:rPr>
              <a:t>Sarvam STT → query string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9488"/>
                </a:solidFill>
                <a:latin typeface="Calibri"/>
              </a:rPr>
              <a:t>3 ▸  </a:t>
            </a:r>
            <a:r>
              <a:rPr sz="1100">
                <a:solidFill>
                  <a:srgbClr val="0F172A"/>
                </a:solidFill>
                <a:latin typeface="Calibri"/>
              </a:rPr>
              <a:t>Spring Boot parses intent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9488"/>
                </a:solidFill>
                <a:latin typeface="Calibri"/>
              </a:rPr>
              <a:t>4 ▸  </a:t>
            </a:r>
            <a:r>
              <a:rPr sz="1100">
                <a:solidFill>
                  <a:srgbClr val="0F172A"/>
                </a:solidFill>
                <a:latin typeface="Calibri"/>
              </a:rPr>
              <a:t>Neo4j Cypher traversal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9488"/>
                </a:solidFill>
                <a:latin typeface="Calibri"/>
              </a:rPr>
              <a:t>5 ▸  </a:t>
            </a:r>
            <a:r>
              <a:rPr sz="1100">
                <a:solidFill>
                  <a:srgbClr val="0F172A"/>
                </a:solidFill>
                <a:latin typeface="Calibri"/>
              </a:rPr>
              <a:t>NVIDIA NIM synthesises brief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9488"/>
                </a:solidFill>
                <a:latin typeface="Calibri"/>
              </a:rPr>
              <a:t>6 ▸  </a:t>
            </a:r>
            <a:r>
              <a:rPr sz="1100">
                <a:solidFill>
                  <a:srgbClr val="0F172A"/>
                </a:solidFill>
                <a:latin typeface="Calibri"/>
              </a:rPr>
              <a:t>Sarvam TTS → audio reply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05  ·  SYSTEM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498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Full-stack specification.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2895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2004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084832"/>
            <a:ext cx="268833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059669"/>
                </a:solidFill>
                <a:latin typeface="Calibri"/>
              </a:defRPr>
            </a:pPr>
            <a:r>
              <a:t>CORE BACKEND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Spring Boot</a:t>
            </a:r>
            <a:br/>
            <a:r>
              <a:t>API Server</a:t>
            </a:r>
          </a:p>
          <a:p>
            <a:pPr>
              <a:spcAft>
                <a:spcPts val="1000"/>
              </a:spcAft>
              <a:defRPr sz="700">
                <a:solidFill>
                  <a:srgbClr val="DCE3EB"/>
                </a:solidFill>
                <a:latin typeface="Calibri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lnSpc>
                <a:spcPct val="135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Java 17  ·  Spring Boot 3.3</a:t>
            </a:r>
            <a:br/>
            <a:r>
              <a:t>Spring WebFlux (reactive I/O)</a:t>
            </a:r>
            <a:br/>
            <a:r>
              <a:t>Spring Data Neo4j (SDN)</a:t>
            </a:r>
            <a:br/>
            <a:r>
              <a:t>WebSocket for live streaming</a:t>
            </a:r>
            <a:br/>
            <a:r>
              <a:t>Hosted on Render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190" y="1828800"/>
            <a:ext cx="320040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5190" y="1828800"/>
            <a:ext cx="3200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1222" y="2084832"/>
            <a:ext cx="268833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0D9488"/>
                </a:solidFill>
                <a:latin typeface="Calibri"/>
              </a:defRPr>
            </a:pPr>
            <a:r>
              <a:t>GRAPH &amp; INTELLIGENCE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Neo4j AuraDB</a:t>
            </a:r>
            <a:br/>
            <a:r>
              <a:t>+ NVIDIA NIM</a:t>
            </a:r>
          </a:p>
          <a:p>
            <a:pPr>
              <a:spcAft>
                <a:spcPts val="1000"/>
              </a:spcAft>
              <a:defRPr sz="700">
                <a:solidFill>
                  <a:srgbClr val="DCE3EB"/>
                </a:solidFill>
                <a:latin typeface="Calibri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lnSpc>
                <a:spcPct val="135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Neo4j AuraDB (enterprise)</a:t>
            </a:r>
            <a:br/>
            <a:r>
              <a:t>Index-free adjacency traversal</a:t>
            </a:r>
            <a:br/>
            <a:r>
              <a:t>LLaMA 3.1 70B via NIM API</a:t>
            </a:r>
            <a:br/>
            <a:r>
              <a:t>PII webhook redaction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5980" y="1828800"/>
            <a:ext cx="320040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5980" y="1828800"/>
            <a:ext cx="32004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2012" y="2084832"/>
            <a:ext cx="2688336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7C3AED"/>
                </a:solidFill>
                <a:latin typeface="Calibri"/>
              </a:defRPr>
            </a:pPr>
            <a:r>
              <a:t>CLIENT LAYER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React 19</a:t>
            </a:r>
            <a:br/>
            <a:r>
              <a:t>+ Expo SDK</a:t>
            </a:r>
          </a:p>
          <a:p>
            <a:pPr>
              <a:spcAft>
                <a:spcPts val="1000"/>
              </a:spcAft>
              <a:defRPr sz="700">
                <a:solidFill>
                  <a:srgbClr val="DCE3EB"/>
                </a:solidFill>
                <a:latin typeface="Calibri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lnSpc>
                <a:spcPct val="135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React 19  ·  Vite 8  ·  TypeScript</a:t>
            </a:r>
            <a:br/>
            <a:r>
              <a:t>Tailwind CSS v4  ·  Sigma.js</a:t>
            </a:r>
            <a:br/>
            <a:r>
              <a:t>Sarvam AI (STT + TTS)</a:t>
            </a:r>
            <a:br/>
            <a:r>
              <a:t>Expo Router (iOS + Android)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